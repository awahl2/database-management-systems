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
  </p:notesMasterIdLst>
  <p:handoutMasterIdLst>
    <p:handoutMasterId r:id="rId5"/>
  </p:handoutMasterIdLst>
  <p:sldIdLst>
    <p:sldId id="256" r:id="rId3"/>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6" d="100"/>
          <a:sy n="16" d="100"/>
        </p:scale>
        <p:origin x="1435" y="106"/>
      </p:cViewPr>
      <p:guideLst/>
    </p:cSldViewPr>
  </p:slideViewPr>
  <p:notesTextViewPr>
    <p:cViewPr>
      <p:scale>
        <a:sx n="1" d="1"/>
        <a:sy n="1" d="1"/>
      </p:scale>
      <p:origin x="0" y="0"/>
    </p:cViewPr>
  </p:notesTextViewPr>
  <p:notesViewPr>
    <p:cSldViewPr snapToGrid="0" showGuides="1">
      <p:cViewPr varScale="1">
        <p:scale>
          <a:sx n="69" d="100"/>
          <a:sy n="69" d="100"/>
        </p:scale>
        <p:origin x="2706"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12/6/2025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12/6/2025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32" name="Instructions"/>
          <p:cNvSpPr/>
          <p:nvPr userDrawn="1"/>
        </p:nvSpPr>
        <p:spPr>
          <a:xfrm>
            <a:off x="44302680" y="-1"/>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a:solidFill>
                  <a:prstClr val="white">
                    <a:lumMod val="50000"/>
                  </a:prstClr>
                </a:solidFill>
                <a:latin typeface="Calibri Light" panose="020F0302020204030204" pitchFamily="34" charset="0"/>
                <a:cs typeface="Calibri" panose="020F0502020204030204" pitchFamily="34" charset="0"/>
              </a:rPr>
              <a:t>poster </a:t>
            </a:r>
            <a:r>
              <a:rPr sz="6600" dirty="0">
                <a:solidFill>
                  <a:prstClr val="white">
                    <a:lumMod val="50000"/>
                  </a:prstClr>
                </a:solidFill>
                <a:latin typeface="Calibri Light" panose="020F0302020204030204" pitchFamily="34" charset="0"/>
                <a:cs typeface="Calibri" panose="020F0502020204030204" pitchFamily="34" charset="0"/>
              </a:rPr>
              <a:t>are formatted for you. </a:t>
            </a:r>
            <a:r>
              <a:rPr lang="en-US" sz="6600" dirty="0">
                <a:solidFill>
                  <a:prstClr val="white">
                    <a:lumMod val="50000"/>
                  </a:prstClr>
                </a:solidFill>
                <a:latin typeface="Calibri Light" panose="020F0302020204030204" pitchFamily="34" charset="0"/>
                <a:cs typeface="Calibri" panose="020F0502020204030204" pitchFamily="34" charset="0"/>
              </a:rPr>
              <a:t>Type</a:t>
            </a:r>
            <a:r>
              <a:rPr lang="en-US" sz="6600"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a:solidFill>
                  <a:prstClr val="white">
                    <a:lumMod val="50000"/>
                  </a:prstClr>
                </a:solidFill>
                <a:latin typeface="Calibri Light" panose="020F0302020204030204" pitchFamily="34" charset="0"/>
                <a:cs typeface="Calibri" panose="020F0502020204030204" pitchFamily="34" charset="0"/>
              </a:rPr>
              <a:t>T</a:t>
            </a:r>
            <a:r>
              <a:rPr sz="6600" dirty="0">
                <a:solidFill>
                  <a:prstClr val="white">
                    <a:lumMod val="50000"/>
                  </a:prstClr>
                </a:solidFill>
                <a:latin typeface="Calibri Light" panose="020F0302020204030204" pitchFamily="34" charset="0"/>
                <a:cs typeface="Calibri" panose="020F0502020204030204" pitchFamily="34" charset="0"/>
              </a:rPr>
              <a:t>o add or remove bullet points from text,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a:solidFill>
                  <a:prstClr val="white">
                    <a:lumMod val="50000"/>
                  </a:prstClr>
                </a:solidFill>
                <a:latin typeface="Calibri Light" panose="020F0302020204030204" pitchFamily="34" charset="0"/>
                <a:cs typeface="Calibri" panose="020F0502020204030204" pitchFamily="34" charset="0"/>
              </a:rPr>
              <a:t>content</a:t>
            </a:r>
            <a:r>
              <a:rPr sz="6600" dirty="0">
                <a:solidFill>
                  <a:prstClr val="white">
                    <a:lumMod val="50000"/>
                  </a:prstClr>
                </a:solidFill>
                <a:latin typeface="Calibri Light" panose="020F0302020204030204" pitchFamily="34" charset="0"/>
                <a:cs typeface="Calibri" panose="020F0502020204030204" pitchFamily="34" charset="0"/>
              </a:rPr>
              <a:t> or body text,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a:t>
            </a:r>
            <a:r>
              <a:rPr lang="en-US" sz="6600" dirty="0">
                <a:solidFill>
                  <a:prstClr val="white">
                    <a:lumMod val="50000"/>
                  </a:prstClr>
                </a:solidFill>
                <a:latin typeface="Calibri Light" panose="020F0302020204030204" pitchFamily="34" charset="0"/>
                <a:cs typeface="Calibri" panose="020F0502020204030204" pitchFamily="34" charset="0"/>
              </a:rPr>
              <a:t>s</a:t>
            </a:r>
            <a:r>
              <a:rPr sz="6600" dirty="0">
                <a:solidFill>
                  <a:prstClr val="white">
                    <a:lumMod val="50000"/>
                  </a:prstClr>
                </a:solidFill>
                <a:latin typeface="Calibri Light" panose="020F0302020204030204" pitchFamily="34" charset="0"/>
                <a:cs typeface="Calibri" panose="020F0502020204030204" pitchFamily="34" charset="0"/>
              </a:rPr>
              <a:t> instead of ours? No problem!</a:t>
            </a:r>
            <a:r>
              <a:rPr lang="en-US" sz="6600" dirty="0">
                <a:solidFill>
                  <a:prstClr val="white">
                    <a:lumMod val="50000"/>
                  </a:prstClr>
                </a:solidFill>
                <a:latin typeface="Calibri Light" panose="020F0302020204030204" pitchFamily="34" charset="0"/>
                <a:cs typeface="Calibri" panose="020F0502020204030204" pitchFamily="34" charset="0"/>
              </a:rPr>
              <a:t> Just click a picture, press the Delete key, then click the icon to add your picture.</a:t>
            </a:r>
            <a:endParaRPr sz="6600" dirty="0">
              <a:solidFill>
                <a:prstClr val="white">
                  <a:lumMod val="50000"/>
                </a:prstClr>
              </a:solidFill>
              <a:latin typeface="Calibri Light" panose="020F0302020204030204" pitchFamily="34" charset="0"/>
              <a:cs typeface="Calibri" panose="020F0502020204030204" pitchFamily="34" charset="0"/>
            </a:endParaRPr>
          </a:p>
        </p:txBody>
      </p:sp>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Type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12/6/2025</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League of Legends Database</a:t>
            </a:r>
          </a:p>
        </p:txBody>
      </p:sp>
      <p:sp>
        <p:nvSpPr>
          <p:cNvPr id="23" name="Text Placeholder 22"/>
          <p:cNvSpPr>
            <a:spLocks noGrp="1"/>
          </p:cNvSpPr>
          <p:nvPr>
            <p:ph type="body" sz="quarter" idx="36"/>
          </p:nvPr>
        </p:nvSpPr>
        <p:spPr/>
        <p:txBody>
          <a:bodyPr/>
          <a:lstStyle/>
          <a:p>
            <a:r>
              <a:rPr lang="en-US" dirty="0"/>
              <a:t>Anna Wahl | Huntington University | CS 415 Database Management – Fall 2025 - Final Project</a:t>
            </a:r>
          </a:p>
        </p:txBody>
      </p:sp>
      <p:sp>
        <p:nvSpPr>
          <p:cNvPr id="67" name="Text Placeholder 66"/>
          <p:cNvSpPr>
            <a:spLocks noGrp="1"/>
          </p:cNvSpPr>
          <p:nvPr>
            <p:ph type="body" sz="quarter" idx="13"/>
          </p:nvPr>
        </p:nvSpPr>
        <p:spPr/>
        <p:txBody>
          <a:bodyPr/>
          <a:lstStyle/>
          <a:p>
            <a:r>
              <a:rPr lang="en-US" dirty="0"/>
              <a:t>Overview</a:t>
            </a:r>
          </a:p>
        </p:txBody>
      </p:sp>
      <p:sp>
        <p:nvSpPr>
          <p:cNvPr id="12" name="Content Placeholder 11"/>
          <p:cNvSpPr>
            <a:spLocks noGrp="1"/>
          </p:cNvSpPr>
          <p:nvPr>
            <p:ph sz="quarter" idx="25"/>
          </p:nvPr>
        </p:nvSpPr>
        <p:spPr>
          <a:xfrm>
            <a:off x="1188720" y="7137184"/>
            <a:ext cx="12801600" cy="3808991"/>
          </a:xfrm>
        </p:spPr>
        <p:txBody>
          <a:bodyPr>
            <a:normAutofit fontScale="77500" lnSpcReduction="20000"/>
          </a:bodyPr>
          <a:lstStyle/>
          <a:p>
            <a:r>
              <a:rPr lang="en-US" dirty="0"/>
              <a:t>This database was created for the League of Legends competitive gaming community, specifically players who want to optimize their builds based on statistical data. League of Legends is a Multiplayer Online Battle Arena (MOBA) game where players select champions and build items throughout the match to enhance their champion's abilities. With over 170 champions and 300+ items, determining item builds can be overwhelming and confusing for players at all skill levels.</a:t>
            </a:r>
          </a:p>
          <a:p>
            <a:r>
              <a:rPr lang="en-US" dirty="0"/>
              <a:t>The data for this database was pulled directly from u.gg, a leading League of Legends statistics platform that aggregates millions of matches to provide win rates, pick rates, and performance metrics. This database models the relationship between champions, items, and their combined effectiveness to help players make informed decisions during champion select and in-game backing.</a:t>
            </a:r>
          </a:p>
          <a:p>
            <a:pPr marL="0" indent="0">
              <a:buNone/>
            </a:pPr>
            <a:endParaRPr lang="en-US" dirty="0"/>
          </a:p>
        </p:txBody>
      </p:sp>
      <p:sp>
        <p:nvSpPr>
          <p:cNvPr id="8" name="Text Placeholder 7"/>
          <p:cNvSpPr>
            <a:spLocks noGrp="1"/>
          </p:cNvSpPr>
          <p:nvPr>
            <p:ph type="body" sz="quarter" idx="19"/>
          </p:nvPr>
        </p:nvSpPr>
        <p:spPr>
          <a:xfrm>
            <a:off x="1188720" y="18234244"/>
            <a:ext cx="12801600" cy="1219200"/>
          </a:xfrm>
        </p:spPr>
        <p:txBody>
          <a:bodyPr/>
          <a:lstStyle/>
          <a:p>
            <a:r>
              <a:rPr lang="en-US" dirty="0"/>
              <a:t>ER Model</a:t>
            </a:r>
          </a:p>
        </p:txBody>
      </p:sp>
      <p:sp>
        <p:nvSpPr>
          <p:cNvPr id="9" name="Text Placeholder 8"/>
          <p:cNvSpPr>
            <a:spLocks noGrp="1"/>
          </p:cNvSpPr>
          <p:nvPr>
            <p:ph type="body" sz="quarter" idx="21"/>
          </p:nvPr>
        </p:nvSpPr>
        <p:spPr/>
        <p:txBody>
          <a:bodyPr/>
          <a:lstStyle/>
          <a:p>
            <a:r>
              <a:rPr lang="en-US" dirty="0"/>
              <a:t>Data</a:t>
            </a:r>
          </a:p>
        </p:txBody>
      </p:sp>
      <p:sp>
        <p:nvSpPr>
          <p:cNvPr id="70" name="Text Placeholder 69"/>
          <p:cNvSpPr>
            <a:spLocks noGrp="1"/>
          </p:cNvSpPr>
          <p:nvPr>
            <p:ph type="body" sz="quarter" idx="40"/>
          </p:nvPr>
        </p:nvSpPr>
        <p:spPr/>
        <p:txBody>
          <a:bodyPr/>
          <a:lstStyle/>
          <a:p>
            <a:r>
              <a:rPr lang="en-US" dirty="0"/>
              <a:t>Queries</a:t>
            </a:r>
          </a:p>
        </p:txBody>
      </p:sp>
      <p:sp>
        <p:nvSpPr>
          <p:cNvPr id="17" name="Content Placeholder 16"/>
          <p:cNvSpPr>
            <a:spLocks noGrp="1"/>
          </p:cNvSpPr>
          <p:nvPr>
            <p:ph sz="quarter" idx="30"/>
          </p:nvPr>
        </p:nvSpPr>
        <p:spPr>
          <a:xfrm>
            <a:off x="15544800" y="15966908"/>
            <a:ext cx="12801600" cy="15436636"/>
          </a:xfrm>
        </p:spPr>
        <p:txBody>
          <a:bodyPr>
            <a:normAutofit fontScale="92500" lnSpcReduction="10000"/>
          </a:bodyPr>
          <a:lstStyle/>
          <a:p>
            <a:pPr marL="0" indent="0">
              <a:buNone/>
            </a:pPr>
            <a:r>
              <a:rPr lang="en-US" dirty="0"/>
              <a:t>Query 1: Gets all champions sorted by win rate (descending) and by ban rate (ascending). This identifies the strongest champions that are not heavily banned. This is most useful for players who want to pick strong champions that will likely not be banned.</a:t>
            </a:r>
          </a:p>
          <a:p>
            <a:pPr marL="0" indent="0">
              <a:buNone/>
            </a:pPr>
            <a:r>
              <a:rPr lang="en-US" dirty="0"/>
              <a:t>Query 2: Calculates the total cost of a full item build for the champion 'bard'. Also calculates the required gold per minute (GPM) to afford this build by 27 and 30 minutes. This helps players understand the economic requirements for building items on Bard.</a:t>
            </a:r>
          </a:p>
          <a:p>
            <a:pPr marL="0" indent="0">
              <a:buNone/>
            </a:pPr>
            <a:r>
              <a:rPr lang="en-US" dirty="0"/>
              <a:t>Query 3: Lists the top 15 jungle champions by win rate, along with an abbreviation of their role using the MID function.</a:t>
            </a:r>
          </a:p>
          <a:p>
            <a:pPr marL="0" indent="0">
              <a:buNone/>
            </a:pPr>
            <a:r>
              <a:rPr lang="en-US" dirty="0"/>
              <a:t>Query 4: Group items by class and calculate the average, minimum, and maximum cost for each class. Useful for newer players to understand the cost distribution of different item classes.</a:t>
            </a:r>
          </a:p>
          <a:p>
            <a:pPr marL="0" indent="0">
              <a:buNone/>
            </a:pPr>
            <a:r>
              <a:rPr lang="en-US" dirty="0"/>
              <a:t>Query 5: Retrieves all items used by the champion '</a:t>
            </a:r>
            <a:r>
              <a:rPr lang="en-US" dirty="0" err="1"/>
              <a:t>ahri</a:t>
            </a:r>
            <a:r>
              <a:rPr lang="en-US" dirty="0"/>
              <a:t>', along with their cost, priority order, and win rate when used by her. This helps players understand which items synergize best with Ahri.</a:t>
            </a:r>
          </a:p>
          <a:p>
            <a:pPr marL="0" indent="0">
              <a:buNone/>
            </a:pPr>
            <a:r>
              <a:rPr lang="en-US" dirty="0"/>
              <a:t>Query 6: This query uses a LEFT JOIN to find the single highest win-rate item for every champion in the database, even if some champions don't have item data yet. The LEFT JOIN ensures all champions appear in the results, with NULL values for champions without build data.</a:t>
            </a:r>
          </a:p>
          <a:p>
            <a:pPr marL="0" indent="0">
              <a:buNone/>
            </a:pPr>
            <a:r>
              <a:rPr lang="en-US" dirty="0"/>
              <a:t>Query 7: Updates the win rate and pick rate for the champion 'jinx'. This reflects recent performance changes in the game meta.</a:t>
            </a:r>
          </a:p>
          <a:p>
            <a:pPr marL="0" indent="0">
              <a:buNone/>
            </a:pPr>
            <a:r>
              <a:rPr lang="en-US" dirty="0"/>
              <a:t>Query 8: Deletes all items from the items table that have a cost less than 200.</a:t>
            </a:r>
          </a:p>
          <a:p>
            <a:pPr marL="0" indent="0">
              <a:buNone/>
            </a:pPr>
            <a:r>
              <a:rPr lang="en-US" dirty="0"/>
              <a:t>Query 9: Creates a view that shows champions with high win rates when using specific items. This view includes the champion name, primary role, item name, item cost, priority order, and win rate with the item. The view filters for builds with a win rate greater than 53.00%.</a:t>
            </a:r>
          </a:p>
          <a:p>
            <a:pPr marL="0" indent="0">
              <a:buNone/>
            </a:pPr>
            <a:r>
              <a:rPr lang="en-US" dirty="0"/>
              <a:t>Query 10: This command starts a transaction, temporarily updates all champions with the top-lane role to support, and lets the user preview the changes. It then rolls back the transaction so none of the updates are saved, confirming that the original data is restored. We need to humble top laners somehow.</a:t>
            </a:r>
          </a:p>
          <a:p>
            <a:pPr marL="0" indent="0">
              <a:buNone/>
            </a:pPr>
            <a:endParaRPr lang="en-US" dirty="0"/>
          </a:p>
        </p:txBody>
      </p:sp>
      <p:sp>
        <p:nvSpPr>
          <p:cNvPr id="18" name="Text Placeholder 17"/>
          <p:cNvSpPr>
            <a:spLocks noGrp="1"/>
          </p:cNvSpPr>
          <p:nvPr>
            <p:ph type="body" sz="quarter" idx="31"/>
          </p:nvPr>
        </p:nvSpPr>
        <p:spPr/>
        <p:txBody>
          <a:bodyPr/>
          <a:lstStyle/>
          <a:p>
            <a:r>
              <a:rPr lang="en-US" dirty="0"/>
              <a:t>Reports</a:t>
            </a:r>
          </a:p>
        </p:txBody>
      </p:sp>
      <p:sp>
        <p:nvSpPr>
          <p:cNvPr id="71" name="Text Placeholder 70"/>
          <p:cNvSpPr>
            <a:spLocks noGrp="1"/>
          </p:cNvSpPr>
          <p:nvPr>
            <p:ph type="body" sz="quarter" idx="41"/>
          </p:nvPr>
        </p:nvSpPr>
        <p:spPr>
          <a:xfrm>
            <a:off x="29931360" y="18260373"/>
            <a:ext cx="12801600" cy="1219200"/>
          </a:xfrm>
        </p:spPr>
        <p:txBody>
          <a:bodyPr/>
          <a:lstStyle/>
          <a:p>
            <a:r>
              <a:rPr lang="en-US" dirty="0"/>
              <a:t>Future Work</a:t>
            </a:r>
          </a:p>
        </p:txBody>
      </p:sp>
      <p:sp>
        <p:nvSpPr>
          <p:cNvPr id="15" name="Content Placeholder 14"/>
          <p:cNvSpPr>
            <a:spLocks noGrp="1"/>
          </p:cNvSpPr>
          <p:nvPr>
            <p:ph sz="quarter" idx="42"/>
          </p:nvPr>
        </p:nvSpPr>
        <p:spPr>
          <a:xfrm>
            <a:off x="29931360" y="20374809"/>
            <a:ext cx="12801600" cy="4344786"/>
          </a:xfrm>
        </p:spPr>
        <p:txBody>
          <a:bodyPr/>
          <a:lstStyle/>
          <a:p>
            <a:pPr marL="0" indent="0">
              <a:buNone/>
            </a:pPr>
            <a:r>
              <a:rPr lang="en-US" dirty="0"/>
              <a:t>In the future, I would like to add more data to the database. Additionally, I would like to sync it to the U.GG database or add a web scraper to get the data from there automatically. My reasoning for this is that the data updates by the second, so maintaining up to date data on the various champions and items is valuable. Additionally, I would like to add other information, such as matchups. Another idea could be creating a dashboard for this project. There is so much that this project could expand to.</a:t>
            </a:r>
          </a:p>
        </p:txBody>
      </p:sp>
      <p:sp>
        <p:nvSpPr>
          <p:cNvPr id="21" name="Text Placeholder 20"/>
          <p:cNvSpPr>
            <a:spLocks noGrp="1"/>
          </p:cNvSpPr>
          <p:nvPr>
            <p:ph type="body" sz="quarter" idx="34"/>
          </p:nvPr>
        </p:nvSpPr>
        <p:spPr/>
        <p:txBody>
          <a:bodyPr/>
          <a:lstStyle/>
          <a:p>
            <a:r>
              <a:rPr lang="en-US"/>
              <a:t>Works Cited</a:t>
            </a:r>
            <a:endParaRPr lang="en-US" dirty="0"/>
          </a:p>
        </p:txBody>
      </p:sp>
      <p:sp>
        <p:nvSpPr>
          <p:cNvPr id="22" name="Content Placeholder 21"/>
          <p:cNvSpPr>
            <a:spLocks noGrp="1"/>
          </p:cNvSpPr>
          <p:nvPr>
            <p:ph sz="quarter" idx="35"/>
          </p:nvPr>
        </p:nvSpPr>
        <p:spPr/>
        <p:txBody>
          <a:bodyPr/>
          <a:lstStyle/>
          <a:p>
            <a:pPr marL="0" indent="0">
              <a:buNone/>
            </a:pPr>
            <a:r>
              <a:rPr lang="en-US" dirty="0"/>
              <a:t>“U Gg: The Best League of Legends Builds Lol Build Champion </a:t>
            </a:r>
            <a:r>
              <a:rPr lang="en-US" dirty="0" err="1"/>
              <a:t>Probuilds</a:t>
            </a:r>
            <a:r>
              <a:rPr lang="en-US" dirty="0"/>
              <a:t> Lol Runes Tier List Counters Guides.” </a:t>
            </a:r>
            <a:r>
              <a:rPr lang="en-US" i="1" dirty="0"/>
              <a:t>U GG: The Best League of Legends Builds </a:t>
            </a:r>
            <a:r>
              <a:rPr lang="en-US" i="1" dirty="0" err="1"/>
              <a:t>LoL</a:t>
            </a:r>
            <a:r>
              <a:rPr lang="en-US" i="1" dirty="0"/>
              <a:t> Build Champion </a:t>
            </a:r>
            <a:r>
              <a:rPr lang="en-US" i="1" dirty="0" err="1"/>
              <a:t>Probuilds</a:t>
            </a:r>
            <a:r>
              <a:rPr lang="en-US" i="1" dirty="0"/>
              <a:t> </a:t>
            </a:r>
            <a:r>
              <a:rPr lang="en-US" i="1" dirty="0" err="1"/>
              <a:t>LoL</a:t>
            </a:r>
            <a:r>
              <a:rPr lang="en-US" i="1" dirty="0"/>
              <a:t> Runes Tier List Counters Guides</a:t>
            </a:r>
            <a:r>
              <a:rPr lang="en-US" dirty="0"/>
              <a:t>, u.gg/. Accessed 06 Dec. 2025. </a:t>
            </a:r>
          </a:p>
          <a:p>
            <a:pPr marL="0" indent="0">
              <a:buNone/>
            </a:pPr>
            <a:endParaRPr lang="en-US" dirty="0"/>
          </a:p>
        </p:txBody>
      </p:sp>
      <p:sp>
        <p:nvSpPr>
          <p:cNvPr id="10" name="Text Placeholder 9">
            <a:extLst>
              <a:ext uri="{FF2B5EF4-FFF2-40B4-BE49-F238E27FC236}">
                <a16:creationId xmlns:a16="http://schemas.microsoft.com/office/drawing/2014/main" id="{2252BFEF-49C5-9959-C3E6-B091CB2C364C}"/>
              </a:ext>
            </a:extLst>
          </p:cNvPr>
          <p:cNvSpPr>
            <a:spLocks noGrp="1"/>
          </p:cNvSpPr>
          <p:nvPr>
            <p:ph type="body" sz="quarter" idx="17"/>
          </p:nvPr>
        </p:nvSpPr>
        <p:spPr>
          <a:xfrm>
            <a:off x="1188720" y="11527430"/>
            <a:ext cx="12801600" cy="1219200"/>
          </a:xfrm>
        </p:spPr>
        <p:txBody>
          <a:bodyPr/>
          <a:lstStyle/>
          <a:p>
            <a:r>
              <a:rPr lang="en-US" dirty="0"/>
              <a:t>Design</a:t>
            </a:r>
          </a:p>
        </p:txBody>
      </p:sp>
      <p:sp>
        <p:nvSpPr>
          <p:cNvPr id="28" name="Content Placeholder 11">
            <a:extLst>
              <a:ext uri="{FF2B5EF4-FFF2-40B4-BE49-F238E27FC236}">
                <a16:creationId xmlns:a16="http://schemas.microsoft.com/office/drawing/2014/main" id="{E50E5B5E-DD9F-CFEA-93B8-500866A01D35}"/>
              </a:ext>
            </a:extLst>
          </p:cNvPr>
          <p:cNvSpPr txBox="1">
            <a:spLocks/>
          </p:cNvSpPr>
          <p:nvPr/>
        </p:nvSpPr>
        <p:spPr>
          <a:xfrm>
            <a:off x="1188720" y="13326658"/>
            <a:ext cx="12801600" cy="3808991"/>
          </a:xfrm>
          <a:prstGeom prst="rect">
            <a:avLst/>
          </a:prstGeom>
        </p:spPr>
        <p:txBody>
          <a:bodyPr vert="horz" lIns="91440" tIns="182880" rIns="91440" bIns="45720" rtlCol="0">
            <a:normAutofit fontScale="85000" lnSpcReduction="20000"/>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r>
              <a:rPr lang="en-US" dirty="0"/>
              <a:t>From the user’s perspective, this database makes creating builds significantly easier. Players can quickly look up any champion, explore item options, and view recommended optimal builds.</a:t>
            </a:r>
          </a:p>
          <a:p>
            <a:r>
              <a:rPr lang="en-US" dirty="0"/>
              <a:t>They can also track win rates for both items and champions, allowing them to easily identify the current meta picks for each season.</a:t>
            </a:r>
          </a:p>
          <a:p>
            <a:r>
              <a:rPr lang="en-US" dirty="0"/>
              <a:t>By the end of each Act, the database can also generate helpful reports—such as the top-performing champions and the most effective items. Centralizing all this information in one place ensures that the data is accurate, consistent, and simple to analyze.</a:t>
            </a:r>
          </a:p>
          <a:p>
            <a:pPr marL="0" indent="0">
              <a:buFont typeface="Arial" panose="020B0604020202020204" pitchFamily="34" charset="0"/>
              <a:buNone/>
            </a:pPr>
            <a:endParaRPr lang="en-US" dirty="0"/>
          </a:p>
        </p:txBody>
      </p:sp>
      <p:pic>
        <p:nvPicPr>
          <p:cNvPr id="1026" name="Picture 2">
            <a:extLst>
              <a:ext uri="{FF2B5EF4-FFF2-40B4-BE49-F238E27FC236}">
                <a16:creationId xmlns:a16="http://schemas.microsoft.com/office/drawing/2014/main" id="{C34C4535-007A-FE6E-DEB2-14E7C4FA3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1550" y="-280733"/>
            <a:ext cx="5871410" cy="5871410"/>
          </a:xfrm>
          <a:prstGeom prst="rect">
            <a:avLst/>
          </a:prstGeom>
          <a:noFill/>
          <a:extLst>
            <a:ext uri="{909E8E84-426E-40DD-AFC4-6F175D3DCCD1}">
              <a14:hiddenFill xmlns:a14="http://schemas.microsoft.com/office/drawing/2010/main">
                <a:solidFill>
                  <a:srgbClr val="FFFFFF"/>
                </a:solidFill>
              </a14:hiddenFill>
            </a:ext>
          </a:extLst>
        </p:spPr>
      </p:pic>
      <p:pic>
        <p:nvPicPr>
          <p:cNvPr id="13" name="Content Placeholder 12" descr="A diagram of a function&#10;&#10;AI-generated content may be incorrect.">
            <a:extLst>
              <a:ext uri="{FF2B5EF4-FFF2-40B4-BE49-F238E27FC236}">
                <a16:creationId xmlns:a16="http://schemas.microsoft.com/office/drawing/2014/main" id="{24722677-358F-073A-6AA1-A45FDB4CB4D4}"/>
              </a:ext>
            </a:extLst>
          </p:cNvPr>
          <p:cNvPicPr>
            <a:picLocks noGrp="1" noChangeAspect="1"/>
          </p:cNvPicPr>
          <p:nvPr>
            <p:ph sz="quarter" idx="26"/>
          </p:nvPr>
        </p:nvPicPr>
        <p:blipFill>
          <a:blip r:embed="rId3">
            <a:extLst>
              <a:ext uri="{28A0092B-C50C-407E-A947-70E740481C1C}">
                <a14:useLocalDpi xmlns:a14="http://schemas.microsoft.com/office/drawing/2010/main" val="0"/>
              </a:ext>
            </a:extLst>
          </a:blip>
          <a:stretch>
            <a:fillRect/>
          </a:stretch>
        </p:blipFill>
        <p:spPr>
          <a:xfrm>
            <a:off x="3455603" y="20552039"/>
            <a:ext cx="8179674" cy="9219297"/>
          </a:xfrm>
        </p:spPr>
      </p:pic>
      <p:pic>
        <p:nvPicPr>
          <p:cNvPr id="20" name="Picture 19" descr="A screenshot of a computer&#10;&#10;AI-generated content may be incorrect.">
            <a:extLst>
              <a:ext uri="{FF2B5EF4-FFF2-40B4-BE49-F238E27FC236}">
                <a16:creationId xmlns:a16="http://schemas.microsoft.com/office/drawing/2014/main" id="{5EE58B4F-E8E9-3EE6-9E61-C40CC072D6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44483" y="7165390"/>
            <a:ext cx="6088908" cy="3543607"/>
          </a:xfrm>
          <a:prstGeom prst="rect">
            <a:avLst/>
          </a:prstGeom>
        </p:spPr>
      </p:pic>
      <p:pic>
        <p:nvPicPr>
          <p:cNvPr id="25" name="Picture 24" descr="A screenshot of a computer&#10;&#10;AI-generated content may be incorrect.">
            <a:extLst>
              <a:ext uri="{FF2B5EF4-FFF2-40B4-BE49-F238E27FC236}">
                <a16:creationId xmlns:a16="http://schemas.microsoft.com/office/drawing/2014/main" id="{D76ECC30-345E-DD37-5654-A1441488B0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45599" y="7087790"/>
            <a:ext cx="7228715" cy="3858385"/>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5B0FA832-F834-86A4-8A2C-AAC804EFE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889714" y="10867931"/>
            <a:ext cx="6111770" cy="3223539"/>
          </a:xfrm>
          <a:prstGeom prst="rect">
            <a:avLst/>
          </a:prstGeom>
        </p:spPr>
      </p:pic>
      <p:pic>
        <p:nvPicPr>
          <p:cNvPr id="1028" name="Picture 4">
            <a:extLst>
              <a:ext uri="{FF2B5EF4-FFF2-40B4-BE49-F238E27FC236}">
                <a16:creationId xmlns:a16="http://schemas.microsoft.com/office/drawing/2014/main" id="{4F31FFFB-1A07-EB4F-1321-8D541420BC5E}"/>
              </a:ext>
            </a:extLst>
          </p:cNvPr>
          <p:cNvPicPr>
            <a:picLocks noGrp="1" noChangeAspect="1" noChangeArrowheads="1"/>
          </p:cNvPicPr>
          <p:nvPr>
            <p:ph sz="quarter" idx="33"/>
          </p:nvPr>
        </p:nvPicPr>
        <p:blipFill>
          <a:blip r:embed="rId7">
            <a:extLst>
              <a:ext uri="{28A0092B-C50C-407E-A947-70E740481C1C}">
                <a14:useLocalDpi xmlns:a14="http://schemas.microsoft.com/office/drawing/2010/main" val="0"/>
              </a:ext>
            </a:extLst>
          </a:blip>
          <a:srcRect/>
          <a:stretch>
            <a:fillRect/>
          </a:stretch>
        </p:blipFill>
        <p:spPr bwMode="auto">
          <a:xfrm>
            <a:off x="29829998" y="14735580"/>
            <a:ext cx="12902962" cy="26295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39A46CA-CFBD-1E1C-006D-87EBF94A418D}"/>
              </a:ext>
            </a:extLst>
          </p:cNvPr>
          <p:cNvPicPr>
            <a:picLocks noGrp="1" noChangeAspect="1" noChangeArrowheads="1"/>
          </p:cNvPicPr>
          <p:nvPr>
            <p:ph sz="quarter" idx="32"/>
          </p:nvPr>
        </p:nvPicPr>
        <p:blipFill>
          <a:blip r:embed="rId8">
            <a:extLst>
              <a:ext uri="{28A0092B-C50C-407E-A947-70E740481C1C}">
                <a14:useLocalDpi xmlns:a14="http://schemas.microsoft.com/office/drawing/2010/main" val="0"/>
              </a:ext>
            </a:extLst>
          </a:blip>
          <a:srcRect/>
          <a:stretch>
            <a:fillRect/>
          </a:stretch>
        </p:blipFill>
        <p:spPr bwMode="auto">
          <a:xfrm>
            <a:off x="29900878" y="7137183"/>
            <a:ext cx="13321827" cy="670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9B7E175-EA31-4EB5-9BCC-A945A81036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Science project poster</Template>
  <TotalTime>0</TotalTime>
  <Words>844</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 Light</vt:lpstr>
      <vt:lpstr>Science Poster</vt:lpstr>
      <vt:lpstr>League of Legends Database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2016-11-28T02:36:27Z</dcterms:created>
  <dcterms:modified xsi:type="dcterms:W3CDTF">2025-12-07T04:23:05Z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TC040013439991</vt:lpwstr>
  </property>
</Properties>
</file>